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72dd5c0ca6416c" /><Relationship Type="http://schemas.openxmlformats.org/officeDocument/2006/relationships/extended-properties" Target="/docProps/app.xml" Id="Rdf752a2963304eb7" /><Relationship Type="http://schemas.openxmlformats.org/officeDocument/2006/relationships/officeDocument" Target="/ppt/presentation.xml" Id="R5c8a95d6747446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f79a814d00444b"/>
  </p:sldMasterIdLst>
  <p:notesMasterIdLst>
    <p:notesMasterId xmlns:r="http://schemas.openxmlformats.org/officeDocument/2006/relationships" r:id="Rc5a3fba9a7f8487b"/>
  </p:notesMasterIdLst>
  <p:sldIdLst>
    <p:sldId xmlns:r="http://schemas.openxmlformats.org/officeDocument/2006/relationships" id="256" r:id="R4d14267ecbff4014"/>
    <p:sldId xmlns:r="http://schemas.openxmlformats.org/officeDocument/2006/relationships" id="257" r:id="Rd330da44fb3840f8"/>
    <p:sldId xmlns:r="http://schemas.openxmlformats.org/officeDocument/2006/relationships" id="258" r:id="R1e56243604994bbc"/>
    <p:sldId xmlns:r="http://schemas.openxmlformats.org/officeDocument/2006/relationships" id="259" r:id="R8ad09fc61471457e"/>
    <p:sldId xmlns:r="http://schemas.openxmlformats.org/officeDocument/2006/relationships" id="260" r:id="R253eb22df0b34128"/>
    <p:sldId xmlns:r="http://schemas.openxmlformats.org/officeDocument/2006/relationships" id="261" r:id="R0c201e6dd25a40e8"/>
    <p:sldId xmlns:r="http://schemas.openxmlformats.org/officeDocument/2006/relationships" id="262" r:id="Ra9f0496a7a3e4653"/>
    <p:sldId xmlns:r="http://schemas.openxmlformats.org/officeDocument/2006/relationships" id="263" r:id="Rdca68fbb398f4ab7"/>
    <p:sldId xmlns:r="http://schemas.openxmlformats.org/officeDocument/2006/relationships" id="264" r:id="R7dd25f5981ca4a28"/>
    <p:sldId xmlns:r="http://schemas.openxmlformats.org/officeDocument/2006/relationships" id="265" r:id="Rddb3b5b1583e4efe"/>
    <p:sldId xmlns:r="http://schemas.openxmlformats.org/officeDocument/2006/relationships" id="266" r:id="Rbac4bb405fe747a7"/>
    <p:sldId xmlns:r="http://schemas.openxmlformats.org/officeDocument/2006/relationships" id="267" r:id="Rae2ef3f86aac4b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a9c6b5ead9462a" /><Relationship Type="http://schemas.openxmlformats.org/officeDocument/2006/relationships/slideMaster" Target="/ppt/slideMasters/slideMaster1.xml" Id="Rf6f79a814d00444b" /><Relationship Type="http://schemas.openxmlformats.org/officeDocument/2006/relationships/notesMaster" Target="/ppt/notesMasters/notesMaster1.xml" Id="Rc5a3fba9a7f8487b" /><Relationship Type="http://schemas.openxmlformats.org/officeDocument/2006/relationships/presProps" Target="/ppt/presProps.xml" Id="Rae93c379a4944a7e" /><Relationship Type="http://schemas.openxmlformats.org/officeDocument/2006/relationships/tableStyles" Target="/ppt/tableStyles.xml" Id="R8a48d9b42da54ff0" /><Relationship Type="http://schemas.openxmlformats.org/officeDocument/2006/relationships/slide" Target="/ppt/slides/slide1.xml" Id="R4d14267ecbff4014" /><Relationship Type="http://schemas.openxmlformats.org/officeDocument/2006/relationships/slide" Target="/ppt/slides/slide2.xml" Id="Rd330da44fb3840f8" /><Relationship Type="http://schemas.openxmlformats.org/officeDocument/2006/relationships/slide" Target="/ppt/slides/slide3.xml" Id="R1e56243604994bbc" /><Relationship Type="http://schemas.openxmlformats.org/officeDocument/2006/relationships/slide" Target="/ppt/slides/slide4.xml" Id="R8ad09fc61471457e" /><Relationship Type="http://schemas.openxmlformats.org/officeDocument/2006/relationships/slide" Target="/ppt/slides/slide5.xml" Id="R253eb22df0b34128" /><Relationship Type="http://schemas.openxmlformats.org/officeDocument/2006/relationships/slide" Target="/ppt/slides/slide6.xml" Id="R0c201e6dd25a40e8" /><Relationship Type="http://schemas.openxmlformats.org/officeDocument/2006/relationships/slide" Target="/ppt/slides/slide7.xml" Id="Ra9f0496a7a3e4653" /><Relationship Type="http://schemas.openxmlformats.org/officeDocument/2006/relationships/slide" Target="/ppt/slides/slide8.xml" Id="Rdca68fbb398f4ab7" /><Relationship Type="http://schemas.openxmlformats.org/officeDocument/2006/relationships/slide" Target="/ppt/slides/slide9.xml" Id="R7dd25f5981ca4a28" /><Relationship Type="http://schemas.openxmlformats.org/officeDocument/2006/relationships/slide" Target="/ppt/slides/slide10.xml" Id="Rddb3b5b1583e4efe" /><Relationship Type="http://schemas.openxmlformats.org/officeDocument/2006/relationships/slide" Target="/ppt/slides/slide11.xml" Id="Rbac4bb405fe747a7" /><Relationship Type="http://schemas.openxmlformats.org/officeDocument/2006/relationships/slide" Target="/ppt/slides/slide12.xml" Id="Rae2ef3f86aac4b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36aa69fc9646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8087d476a46ca" /><Relationship Type="http://schemas.openxmlformats.org/officeDocument/2006/relationships/notesMaster" Target="/ppt/notesMasters/notesMaster1.xml" Id="R1114cc264c4d4a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2aa05a6bbd4d3c" /><Relationship Type="http://schemas.openxmlformats.org/officeDocument/2006/relationships/notesMaster" Target="/ppt/notesMasters/notesMaster1.xml" Id="Rf863d19b2f184c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08090f84324ac3" /><Relationship Type="http://schemas.openxmlformats.org/officeDocument/2006/relationships/notesMaster" Target="/ppt/notesMasters/notesMaster1.xml" Id="R0c65cdd9aa8e4a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77d2be42bd47ed" /><Relationship Type="http://schemas.openxmlformats.org/officeDocument/2006/relationships/notesMaster" Target="/ppt/notesMasters/notesMaster1.xml" Id="Rd5cb33471fe141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64c7e894ca4bf5" /><Relationship Type="http://schemas.openxmlformats.org/officeDocument/2006/relationships/notesMaster" Target="/ppt/notesMasters/notesMaster1.xml" Id="R3dcfdc67b3674f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949ba599f94511" /><Relationship Type="http://schemas.openxmlformats.org/officeDocument/2006/relationships/notesMaster" Target="/ppt/notesMasters/notesMaster1.xml" Id="Rbbbae0c3a87048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7b15f5bc3e4bb9" /><Relationship Type="http://schemas.openxmlformats.org/officeDocument/2006/relationships/notesMaster" Target="/ppt/notesMasters/notesMaster1.xml" Id="R3940796506d64b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bf71cab05e4154" /><Relationship Type="http://schemas.openxmlformats.org/officeDocument/2006/relationships/notesMaster" Target="/ppt/notesMasters/notesMaster1.xml" Id="R09a00cff825544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a790dca2914c66" /><Relationship Type="http://schemas.openxmlformats.org/officeDocument/2006/relationships/notesMaster" Target="/ppt/notesMasters/notesMaster1.xml" Id="Rcd6cafb7580d47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dc8b84b9394d2e" /><Relationship Type="http://schemas.openxmlformats.org/officeDocument/2006/relationships/notesMaster" Target="/ppt/notesMasters/notesMaster1.xml" Id="R823830ebe1a449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63ee0afd5c4693" /><Relationship Type="http://schemas.openxmlformats.org/officeDocument/2006/relationships/notesMaster" Target="/ppt/notesMasters/notesMaster1.xml" Id="R578accc41d674c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77ef3605e643e5" /><Relationship Type="http://schemas.openxmlformats.org/officeDocument/2006/relationships/notesMaster" Target="/ppt/notesMasters/notesMaster1.xml" Id="R1d79582c9fa547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42f8a7ea648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940c652a984da4" /><Relationship Type="http://schemas.openxmlformats.org/officeDocument/2006/relationships/slideLayout" Target="/ppt/slideLayouts/slideLayout1.xml" Id="Rf05ef4b124254d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5ef4b124254d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2b519bb574cab" /><Relationship Type="http://schemas.openxmlformats.org/officeDocument/2006/relationships/notesSlide" Target="/ppt/notesSlides/notesSlide1.xml" Id="R520b43ed9c274f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1e5019fc24595" /><Relationship Type="http://schemas.openxmlformats.org/officeDocument/2006/relationships/notesSlide" Target="/ppt/notesSlides/notesSlide2.xml" Id="Re9599d7400d448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3402e0d814cfc" /><Relationship Type="http://schemas.openxmlformats.org/officeDocument/2006/relationships/notesSlide" Target="/ppt/notesSlides/notesSlide3.xml" Id="R0fcd0d2ad0144a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e85d491884ca3" /><Relationship Type="http://schemas.openxmlformats.org/officeDocument/2006/relationships/notesSlide" Target="/ppt/notesSlides/notesSlide4.xml" Id="R9a1d8ef2535747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f4a9bcc20476c" /><Relationship Type="http://schemas.openxmlformats.org/officeDocument/2006/relationships/notesSlide" Target="/ppt/notesSlides/notesSlide5.xml" Id="R8f9476fb727241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299b455b04e15" /><Relationship Type="http://schemas.openxmlformats.org/officeDocument/2006/relationships/notesSlide" Target="/ppt/notesSlides/notesSlide6.xml" Id="Rc5317009eb3b42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788797ee4487d" /><Relationship Type="http://schemas.openxmlformats.org/officeDocument/2006/relationships/notesSlide" Target="/ppt/notesSlides/notesSlide7.xml" Id="R616f91327b3a41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aff2f58f2439b" /><Relationship Type="http://schemas.openxmlformats.org/officeDocument/2006/relationships/notesSlide" Target="/ppt/notesSlides/notesSlide8.xml" Id="Ra9b864ce18d241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b17a140664a33" /><Relationship Type="http://schemas.openxmlformats.org/officeDocument/2006/relationships/notesSlide" Target="/ppt/notesSlides/notesSlide9.xml" Id="Rdef254286ff44a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64065009d4db9" /><Relationship Type="http://schemas.openxmlformats.org/officeDocument/2006/relationships/notesSlide" Target="/ppt/notesSlides/notesSlide10.xml" Id="R74e6f5fbbb6649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ebcea5d05453b" /><Relationship Type="http://schemas.openxmlformats.org/officeDocument/2006/relationships/notesSlide" Target="/ppt/notesSlides/notesSlide11.xml" Id="Rd908b8396daa4e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377559dfa48e6" /><Relationship Type="http://schemas.openxmlformats.org/officeDocument/2006/relationships/notesSlide" Target="/ppt/notesSlides/notesSlide12.xml" Id="Ra06f7e922f7f46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5FA5DD-B6CB-4FD9-AF54-23FD88CF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34A24"/>
                </a:solidFill>
              </a:defRPr>
            </a:pPr>
            <a:r>
              <a:rPr sz="900" b="1">
                <a:solidFill>
                  <a:srgbClr val="A34A24"/>
                </a:solidFill>
              </a:rPr>
              <a:t>PRODUCT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9694F-5B84-40C6-9371-B751C946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7239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51515"/>
                </a:solidFill>
              </a:defRPr>
            </a:pPr>
            <a:r>
              <a:rPr sz="4200" b="1">
                <a:solidFill>
                  <a:srgbClr val="151515"/>
                </a:solidFill>
              </a:rPr>
              <a:t>Ordenar WhatsApp para crecer sin duplicar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2F5B2-CE08-4B32-9FA9-2AD9CC85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5A55"/>
                </a:solidFill>
              </a:defRPr>
            </a:pPr>
            <a:r>
              <a:rPr sz="1800" b="0">
                <a:solidFill>
                  <a:srgbClr val="5F5A55"/>
                </a:solidFill>
              </a:rPr>
              <a:t>MVP para automatizar conversaciones, reducir errores y preparar la integración futura con Agora POS.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C29FF-6ED6-4235-9C09-C09C7742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287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BD772-971B-4FDD-BAF7-B89F68CC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WA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AAADC-0654-4C7F-B6FF-14DB7370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Bot + equipo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+ pedidos claros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0AEA7-8901-4E3D-8C8C-14863CD3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22669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AEAE3-2F49-434F-BC43-A4A61258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1515"/>
                </a:solidFill>
              </a:defRPr>
            </a:pPr>
            <a:r>
              <a:rPr sz="3300" b="1">
                <a:solidFill>
                  <a:srgbClr val="151515"/>
                </a:solidFill>
              </a:rPr>
              <a:t>R1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48DDB-20C4-4FD0-ADFD-FDBFE072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MVP operativo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41F81-2658-4B0C-8E48-15B6C26E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0100"/>
            <a:ext cx="22669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B36D8-80A5-4CEB-B819-CF3ADB5A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339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1515"/>
                </a:solidFill>
              </a:defRPr>
            </a:pPr>
            <a:r>
              <a:rPr sz="3300" b="1">
                <a:solidFill>
                  <a:srgbClr val="151515"/>
                </a:solidFill>
              </a:rPr>
              <a:t>R2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30B4F-076C-498C-B367-DB33B369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197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Optimización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CF0B2-5861-4772-9B73-2C89845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10100"/>
            <a:ext cx="2762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6D36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5C205-C440-48BB-8784-B1130E24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33950"/>
            <a:ext cx="241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3.500 EUR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F1DAA-6E94-4475-8EA2-8918535A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Desarrollo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13CD56-B810-4180-A892-9A2353E0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C1270-14A0-4A3B-AE94-8CB9CEE2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2487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0871D-4F99-471E-9BBF-CD624253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WhatsApp ya es el canal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FED09-1FAC-49E1-983A-52302AFD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La oportunidad está en ordenar un canal que el cliente ya usa.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0D825-5EF1-4950-8B39-4DD91691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5884C-6BBA-4492-B19B-EB30DB59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314325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8278E-77C2-4C29-8F6B-88249B0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50408-903C-4AC7-AE70-0A5C5991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Hoy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85DDF-CA7D-42EF-B4FF-C4F0F6A9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2724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5"/>
                </a:solidFill>
              </a:defRPr>
            </a:pPr>
            <a:r>
              <a:rPr sz="1275" b="0">
                <a:solidFill>
                  <a:srgbClr val="5F5A55"/>
                </a:solidFill>
              </a:rPr>
              <a:t>Pedidos particulares, restaurantes, tartas especiales y dudas entran mezclados por WhatsApp.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2DCEF-4468-4396-8416-B6F7A26B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314325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4CF89-17D1-42D1-8CC0-AB6CEC16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7FCCA-F10B-477F-BC89-95C20D19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Crecimiento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FBA93-D666-4D15-876F-7649DD92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724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5"/>
                </a:solidFill>
              </a:defRPr>
            </a:pPr>
            <a:r>
              <a:rPr sz="1275" b="0">
                <a:solidFill>
                  <a:srgbClr val="5F5A55"/>
                </a:solidFill>
              </a:rPr>
              <a:t>Más tiendas y más volumen hacen que el proceso manual sea cada vez más caro y frágil.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BE8F4-BA1F-452E-829F-182BA1CF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14325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C4AD9-D886-4DB7-B225-5F46B06E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1B2A9-7108-481C-AE85-1D1FA246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Direccion correcta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2F873-C59D-4C1A-BF0A-B20E1873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724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5"/>
                </a:solidFill>
              </a:defRPr>
            </a:pPr>
            <a:r>
              <a:rPr sz="1275" b="0">
                <a:solidFill>
                  <a:srgbClr val="5F5A55"/>
                </a:solidFill>
              </a:rPr>
              <a:t>No se cambia WhatsApp. Se crea una capa que clasifica, pregunta y registra antes de pasar al equipo.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A4B1C-EE6B-4815-BA60-8B8D8913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887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515"/>
                </a:solidFill>
              </a:defRPr>
            </a:pPr>
            <a:r>
              <a:rPr sz="2100" b="1">
                <a:solidFill>
                  <a:srgbClr val="151515"/>
                </a:solidFill>
              </a:rPr>
              <a:t>La meta del MVP es convertir conversaciones sueltas en pedidos y casos revisables.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79293-47EA-4773-BD74-AC8B1337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7F3FE-3D54-4B68-ADBA-844E9F11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9388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FAD25C-ED25-41AC-9885-10E39093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El problema no es el volumen, es la falta de estructura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5A32C-4870-4CA0-8FAC-96277377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Cada mensaje manualmente interpretado aumenta tiempo y riesgo.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FADB6-5890-4AC9-AF19-24270CB6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072BC-2B75-48A2-B644-1039EF3F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009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76C0F-C71D-4CA0-9B02-D22A4068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392C5-0831-4C83-A6E9-4B8FFEDC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Tiempo repetitivo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5D9AC-CD8C-4D52-B5C2-22F17C37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621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5"/>
                </a:solidFill>
              </a:defRPr>
            </a:pPr>
            <a:r>
              <a:rPr sz="1425" b="0">
                <a:solidFill>
                  <a:srgbClr val="5F5A55"/>
                </a:solidFill>
              </a:rPr>
              <a:t>El equipo responde una y otra vez a dudas frecuentes.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46BCF-3EBA-4373-9D19-18CEFF7F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1009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CB470-B480-45A6-9F81-AA86C9FE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A606F-F89D-4FBA-B78B-2DE33128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81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Datos incompletos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92D6B-37CB-4C10-8F13-75D38FC5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5"/>
                </a:solidFill>
              </a:defRPr>
            </a:pPr>
            <a:r>
              <a:rPr sz="1425" b="0">
                <a:solidFill>
                  <a:srgbClr val="5F5A55"/>
                </a:solidFill>
              </a:rPr>
              <a:t>Fecha, tienda, cantidad y sabor llegan repartidos.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39C0C-7D2A-4791-ADDA-FEAA9FFE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1009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DD14D-1588-43B4-9C9C-6060648C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D7AD9-3D79-45BB-AEF2-D57EEA23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9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Flujos mezclados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6F987-148D-4EAD-A500-1B862B74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385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5"/>
                </a:solidFill>
              </a:defRPr>
            </a:pPr>
            <a:r>
              <a:rPr sz="1425" b="0">
                <a:solidFill>
                  <a:srgbClr val="5F5A55"/>
                </a:solidFill>
              </a:rPr>
              <a:t>Particulares, restaurantes y tartas especiales entran juntos.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D0D1E-8012-4E28-9870-07C07DEC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009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47B14-2FCE-44AD-9D82-6A7CA1B5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934B3-FB0D-4037-AC55-6CDDCD3D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Errores humanos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D9AF2E-3998-4405-BE4D-2347D61C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767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5"/>
                </a:solidFill>
              </a:defRPr>
            </a:pPr>
            <a:r>
              <a:rPr sz="1425" b="0">
                <a:solidFill>
                  <a:srgbClr val="5F5A55"/>
                </a:solidFill>
              </a:rPr>
              <a:t>Copiar pedidos manualmente aumenta olvidos y datos mal pasados.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74854-D86E-4315-9496-36CD4CCA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1009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6EBD2-A160-4A13-BC15-995E3FD7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25F6B-42B9-433A-AEFE-22A4AC32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95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Escala limitada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BF802-3A9E-4D4B-B06E-245E843A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149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5A55"/>
                </a:solidFill>
              </a:defRPr>
            </a:pPr>
            <a:r>
              <a:rPr sz="1425" b="0">
                <a:solidFill>
                  <a:srgbClr val="5F5A55"/>
                </a:solidFill>
              </a:rPr>
              <a:t>Mas tiendas multiplican la carga si el proceso sigue igual.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4E151C-5826-4C2E-8C11-A2CE08DE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6AFAA-4235-4EC6-A952-2486D867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3638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BB9FE-BFCD-4805-92F9-D37E38C6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La solución es una capa operativa sobre WhatsApp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EB397-C950-42AE-964C-A1046FF7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Twilio conecta el WhatsApp de Beinetti con el sistema de automatización.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7F85E-2C71-45E5-A75B-351C9882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AB45D-6A5F-4D83-BAF7-956095B2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000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7C092-7EA8-4EA1-883B-65520DA1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Cliente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8C145-6030-42AD-8F6E-BC6B472F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Escribe por WhatsApp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934D9-4E65-4FCD-BFF9-64767528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81300"/>
            <a:ext cx="2000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1C01C-36C6-4F82-B57B-DCFBDB78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9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Twilio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B7180C-1261-4E48-BD21-81E8EA10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Puente tecnico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863C0-3180-47D2-80F4-205F56B5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2000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359C5-5CC2-464A-AD6B-BBBBC68C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Sistema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EEC78-DA50-44EB-99AF-F5B423B8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Clasifica y recoge 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B8DA3D-0D7A-4B59-BB7C-10877F88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000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9E9EF-E70C-4704-9DE4-B607FEEE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Equipo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37E41-5D32-4823-B77E-881F1EC6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Recibe resumen claro</a:t>
            </a:r>
          </a:p>
        </p:txBody>
      </p: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24150" y="33623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6D36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257800" y="33623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6D36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91450" y="33623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6D36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89CE2-C3AD-46CE-90E0-CB770221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95850"/>
            <a:ext cx="815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1515"/>
                </a:solidFill>
              </a:defRPr>
            </a:pPr>
            <a:r>
              <a:rPr sz="2250" b="1">
                <a:solidFill>
                  <a:srgbClr val="151515"/>
                </a:solidFill>
              </a:rPr>
              <a:t>Para el cliente final no cambia nada: sigue usando WhatsApp.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2C0EB-0F38-45E2-A746-6A6B342B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563C6-359D-4D05-90F4-5D564B57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3798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2B7D55-6B7C-405B-8789-52252648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El MVP ahorra tiempo sin esperar a Agora POS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5B49E-3B5A-4DA6-997C-1F082607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Primero se ordena WhatsApp. Después se integra más profundo.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210F6-0979-46DA-9EE7-95BF5088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3CA1B-95B3-46CB-B972-DB099386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31432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9A022-6907-4E82-892F-6892F27F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60AA3-5CF2-4EC4-BFD5-83D5D18A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Incluye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2498B-25BF-475F-A99F-DE62A0BD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272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5"/>
                </a:solidFill>
              </a:defRPr>
            </a:pPr>
            <a:r>
              <a:rPr sz="1275" b="0">
                <a:solidFill>
                  <a:srgbClr val="5F5A55"/>
                </a:solidFill>
              </a:rPr>
              <a:t>Twilio, bot de clasificación, flujos principales, FAQs, derivación a humano, base de datos y bandeja básica.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61921-ADCF-4198-8D2C-BE746236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31432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9FB2A-8D2B-4BF9-A0C0-09A916D8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96539-4BA4-45D2-A8F5-B21C3022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No incluye todavía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D905E-9514-4F14-B13F-7F32A5B0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72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5"/>
                </a:solidFill>
              </a:defRPr>
            </a:pPr>
            <a:r>
              <a:rPr sz="1275" b="0">
                <a:solidFill>
                  <a:srgbClr val="5F5A55"/>
                </a:solidFill>
              </a:rPr>
              <a:t>Integración completa con Agora, voz, CRM avanzado, campañas de marketing o presupuestos complejos automáticos.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BFBC7-63F9-448C-8B8F-74F2DC8A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31432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E2FAB-7649-4732-A6F5-5E146EE1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CEA80-41A4-41D0-894D-94C635F3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5F221-8DBA-4CFC-9EC0-67EE90C7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72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5"/>
                </a:solidFill>
              </a:defRPr>
            </a:pPr>
            <a:r>
              <a:rPr sz="1275" b="0">
                <a:solidFill>
                  <a:srgbClr val="5F5A55"/>
                </a:solidFill>
              </a:rPr>
              <a:t>WhatsApp pasa de bandeja desordenada a canal filtrado, medible y preparado para crecer.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EB7D4-ED1E-4D0E-8D52-74471884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922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515"/>
                </a:solidFill>
              </a:defRPr>
            </a:pPr>
            <a:r>
              <a:rPr sz="2100" b="1">
                <a:solidFill>
                  <a:srgbClr val="151515"/>
                </a:solidFill>
              </a:rPr>
              <a:t>El MVP controla el riesgo: resuelve lo urgente y deja lista la base técnica.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0147D-00EB-4227-81AA-374C9455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B2C0F-9B3E-4A88-9FAD-3235D8D6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3241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62472-7B61-4CA6-BAFA-A5999C13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R1 convierte mensajes en casos ordenados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4CFD8-1E4E-4D37-BA2E-DF6DC018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Release 1 es el MVP operativo para reducir carga manual.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E20CC-3338-4387-97F6-273F4886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32168-B080-4AE1-A740-DD982C4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971EF-37BD-460F-BEF9-A356C8FC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52650"/>
            <a:ext cx="887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Clasificación inicial: normal, especial, restaurante, FAQ o humano.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97B57-63CC-48A9-A867-94A5A04C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71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538AE-66C5-4A09-9DC2-258E309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05100"/>
            <a:ext cx="887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Pedido normal: envio a tienda online/Agora.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3F8BD-D4FD-445B-879F-41714356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24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F2FC0-ED42-49CF-BCDE-2A21D3F6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57550"/>
            <a:ext cx="887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Tarta especial: fecha, tienda, personas, sabor, temática e imagen.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95A56-50DC-469C-95FD-B72F7315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76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D3688-B666-435E-AB36-F6614CA3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0"/>
            <a:ext cx="887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Restaurante: pedido estructurado por email o panel básico.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6DD94-6303-47CC-91EF-7B26B19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29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C7D24-7A4B-4247-A911-8539B691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62450"/>
            <a:ext cx="887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FAQ: horarios, ubicaciones, recogidas y alérgenos.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516DD-E2B4-42C9-A878-15BE726B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81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E88E0C-0F68-4A7B-AB51-F973495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14900"/>
            <a:ext cx="887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</a:defRPr>
            </a:pPr>
            <a:r>
              <a:rPr sz="1500" b="0">
                <a:solidFill>
                  <a:srgbClr val="151515"/>
                </a:solidFill>
              </a:rPr>
              <a:t>Bandeja básica: nuevo, pendiente y revisado.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98DA7-676E-4361-8107-E2D57344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A8F10-FA0C-4823-AA0F-EAECB29D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477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ADAD5-4D80-4FDB-A3FF-680FBD61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R2 conecta mejor WhatsApp con operación interna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B24E0-6665-4AAD-88FF-A65A7624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La segunda fase depende de aprendizaje real y disponibilidad de API.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AA55D-0B63-49BF-87A5-9D17852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0D4A6-A091-4ECE-A240-7C5B1F5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32004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3CD7C-E90A-45A6-AEA6-6A567E0C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6AEC2-1DB1-4022-89C7-6411F05F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Panel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E88EC-2052-4C77-9411-E95494E9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5"/>
                </a:solidFill>
              </a:defRPr>
            </a:pPr>
            <a:r>
              <a:rPr sz="1275" b="0">
                <a:solidFill>
                  <a:srgbClr val="5F5A55"/>
                </a:solidFill>
              </a:rPr>
              <a:t>Catálogo editable, estados completos y exportación diaria para obrador.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4018B-624B-4457-B46C-C1BA0742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32004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CCC12-45AA-4833-8E10-6E220E67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A14E5-F68D-410E-96DD-8C739B02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Integración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87B65-3963-44C6-AC4D-0FD1ABA2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5"/>
                </a:solidFill>
              </a:defRPr>
            </a:pPr>
            <a:r>
              <a:rPr sz="1275" b="0">
                <a:solidFill>
                  <a:srgbClr val="5F5A55"/>
                </a:solidFill>
              </a:rPr>
              <a:t>Conexión con Agora POS cuando exista documentación/API utilizable.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74E22-27F2-47BC-B30A-3E5D3A75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32004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14574-3233-4EDD-B34F-0BF01D5C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2B29D-4A93-402C-ABD2-32D6FC3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Inteligencia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DC2FC-CD79-4D96-8779-4EFAE7AB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5"/>
                </a:solidFill>
              </a:defRPr>
            </a:pPr>
            <a:r>
              <a:rPr sz="1275" b="0">
                <a:solidFill>
                  <a:srgbClr val="5F5A55"/>
                </a:solidFill>
              </a:rPr>
              <a:t>Mejor extracción de datos, resumen automático, multiidioma y preparación para voz.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349A7-6D98-4C30-A3BC-BA1C7152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197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1515"/>
                </a:solidFill>
              </a:defRPr>
            </a:pPr>
            <a:r>
              <a:rPr sz="1950" b="1">
                <a:solidFill>
                  <a:srgbClr val="151515"/>
                </a:solidFill>
              </a:rPr>
              <a:t>R2 no se promete a ciegas: se presupuesta mejor cuando R1 genere datos y Agora confirme su API.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28E35-0C4D-431A-A100-AF3ED3B6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A0491-CAB5-4AD6-B5A9-83DB3A3B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56306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579AEB-5DCE-42C2-81FB-051EAEA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El stack elegido es profesional y escalable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E11F5-5148-47BA-9E8A-5DCD37B4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Suficiente para el MVP, preparado para integraciones y crecimiento.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14195-5430-4430-8D95-0AD8E8FF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F6F38-BE35-454B-8A63-1DF87A26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9F45B-BA3B-4909-B967-F83480DF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4A24"/>
                </a:solidFill>
              </a:defRPr>
            </a:pPr>
            <a:r>
              <a:rPr sz="1350" b="1">
                <a:solidFill>
                  <a:srgbClr val="A34A24"/>
                </a:solidFill>
              </a:rPr>
              <a:t>WhatsApp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05692-35B0-4563-A95A-74B66D70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145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Twilio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31DBF-E1E1-4FD3-B659-A73D5FE1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145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Conexión rápida y estable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32EA7-30C8-4657-ADD1-1617C1A9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5BD07-97DD-496D-93C9-94455F22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4A24"/>
                </a:solidFill>
              </a:defRPr>
            </a:pPr>
            <a:r>
              <a:rPr sz="1350" b="1">
                <a:solidFill>
                  <a:srgbClr val="A34A24"/>
                </a:solidFill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30E41-A381-45A0-A6A7-0A950E11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0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NestJS + TypeScript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856DE-AE79-495D-82A8-DE41380C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03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Arquitectura modular para crecer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7C339-1228-4EBB-AE9D-1E000944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AE7B3-2D03-4DE1-8D54-7EB3F007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4A24"/>
                </a:solidFill>
              </a:defRPr>
            </a:pPr>
            <a:r>
              <a:rPr sz="1350" b="1">
                <a:solidFill>
                  <a:srgbClr val="A34A24"/>
                </a:solidFill>
              </a:rPr>
              <a:t>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674A9-6BA1-4F27-975E-6A582C79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86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PostgreSQL + Prisma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4A543-5F9C-4532-867C-49BB6744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861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Pedidos, clientes, estados y trazabilidad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E57CB-296D-4386-A6B5-75F30DB6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E8925-1536-4E5D-8B47-4BBDFFCC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4A24"/>
                </a:solidFill>
              </a:defRPr>
            </a:pPr>
            <a:r>
              <a:rPr sz="1350" b="1">
                <a:solidFill>
                  <a:srgbClr val="A34A24"/>
                </a:solidFill>
              </a:rPr>
              <a:t>Panel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9A06F-811A-40D6-9EA5-4B4737C0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719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Next.js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B399E-CB52-411F-837A-EAE6FB93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719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Bandeja interna y futura operación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FD08A-23E2-452B-84C7-AD8CD4E1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A84AA-8184-4507-B27F-BBCA40F6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4A24"/>
                </a:solidFill>
              </a:defRPr>
            </a:pPr>
            <a:r>
              <a:rPr sz="1350" b="1">
                <a:solidFill>
                  <a:srgbClr val="A34A24"/>
                </a:solidFill>
              </a:rPr>
              <a:t>IA opcional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76EB64-20A5-44EA-9DDD-C5BA2DA7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577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OpenAI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9CA7A-4AD0-4D48-B3C7-43786D50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5777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Clasificar, resumir y extraer datos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6BCB6-9EBC-4229-A55C-62DD118C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1F804-0BF9-4223-A31C-17848A5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16905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88E939-2698-444D-B8CF-334B32DD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El MVP debe medirse por ahorro y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089A4-9F48-4E0C-B43B-7724540D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OKR propuesto para validar si la automatización funciona.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1BA1B-03AE-44D9-ADA6-5E19A872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D9B8E-D817-4F97-9F60-B522C3B7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000500" cy="247650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76557-783C-4F76-B9F5-DBCF1975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50373-4772-4FBA-AA19-D93B6BE7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</a:defRPr>
            </a:pPr>
            <a:r>
              <a:rPr sz="2250" b="1">
                <a:solidFill>
                  <a:srgbClr val="151515"/>
                </a:solidFill>
              </a:rPr>
              <a:t>Objetivo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A66C8-10D6-4B23-A517-158F7B73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3581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5A55"/>
                </a:solidFill>
              </a:defRPr>
            </a:pPr>
            <a:r>
              <a:rPr sz="1650" b="0">
                <a:solidFill>
                  <a:srgbClr val="5F5A55"/>
                </a:solidFill>
              </a:rPr>
              <a:t>Reducir el tiempo manual dedicado a WhatsApp y mejorar la calidad de los pedidos recibidos.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EF240-343D-4F1D-A670-61E1718F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05050"/>
            <a:ext cx="2381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897C5-3AFF-400A-A3C2-F2A6DF5A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1515"/>
                </a:solidFill>
              </a:defRPr>
            </a:pPr>
            <a:r>
              <a:rPr sz="3300" b="1">
                <a:solidFill>
                  <a:srgbClr val="151515"/>
                </a:solidFill>
              </a:rPr>
              <a:t>30-50%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84FB6-D10C-407B-A9CE-1B94C12D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menos conversaciones repetitivas manuales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49927-A95B-4761-8802-A4EEF30C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381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8C788-E176-4C90-98D2-9DA90711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1515"/>
                </a:solidFill>
              </a:defRPr>
            </a:pPr>
            <a:r>
              <a:rPr sz="3300" b="1">
                <a:solidFill>
                  <a:srgbClr val="151515"/>
                </a:solidFill>
              </a:rPr>
              <a:t>70%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9CF22-4E8A-4C21-9F0D-3350BB6C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pedidos especiales con datos mínimos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971E2-C93C-4972-B669-57B75EB2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90950"/>
            <a:ext cx="2381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35D09-7A4F-4EC8-953D-F2AD468D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148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1515"/>
                </a:solidFill>
              </a:defRPr>
            </a:pPr>
            <a:r>
              <a:rPr sz="3300" b="1">
                <a:solidFill>
                  <a:srgbClr val="151515"/>
                </a:solidFill>
              </a:rPr>
              <a:t>80%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9562C-B918-472C-89E3-0D59E22B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006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clasificacion correcta de conversaciones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C000D-D1A6-427E-8AB7-39D7FF4C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381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28F0E-99D1-4957-A689-6E3343A5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51515"/>
                </a:solidFill>
              </a:defRPr>
            </a:pPr>
            <a:r>
              <a:rPr sz="3300" b="1">
                <a:solidFill>
                  <a:srgbClr val="151515"/>
                </a:solidFill>
              </a:rPr>
              <a:t>100%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29D2A-CC82-4ACA-8B08-E3E2A8A3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006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trazabilidad de pedidos entrantes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396BF-F930-4A29-8769-C304AFCA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94CAE-662F-4EE3-9381-5521D149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792337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86694F-31BD-47CD-8541-7418E95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Los KPIs muestran si el sistema está quitando carga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17D48-D050-4C84-B6CE-14F31613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No basta con que el bot responda: debe mejorar la operación.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F7157-0723-4ED2-81D5-42507975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D6280-1151-48DE-8711-A0A426C5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EC967-B6CA-4615-9A26-41A0020A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F343B-346C-45F9-9712-CBFBC5F9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Conversaciones gestionadas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B8C77-C938-4D07-8CA1-1C2DAE50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volumen real que pasa por el sistema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2959C-6BD7-4C15-80A3-B0FDB737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BB367-E31D-432B-91E1-C8539A6F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6EE93-A4DB-4965-B53C-BB9963B5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Derivación a humano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C9630-E2BE-4F2E-BB8A-FF621EF2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casos que aún requieren atención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A9FC9-9378-4683-95B6-2A1D418B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07323-DF7E-4FE5-812C-6F7C51F0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3A008-79B8-491C-AA5F-92EE5F8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Pedidos completos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341D6-E6C6-41DD-A873-EA02F1FF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calidad de los datos recogidos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E3610-9570-4095-AFB2-21E76EA6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F720D-DC5D-4BB9-8710-B82BA2B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19BAC-DD4D-4CBF-912C-D4CF3991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Primera respuesta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E1AEB-6935-41A2-9CA4-1CB07881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velocidad percibida por cliente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64509-F91D-4C3A-98D2-A70E6A69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A3468-6D1F-45F7-A828-26291204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AF59E5-6AD7-4C35-A4F1-B20E560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195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Errores detectados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E95CA-8E18-4AFE-9350-34D919A0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datos faltantes o mal estructurados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CB165-C266-4AEC-AA90-6D27C5B5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1D029-1EDD-4620-B012-73BD870F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762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9910F-66D8-4B9F-8FCC-6D61CAAB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</a:defRPr>
            </a:pPr>
            <a:r>
              <a:rPr sz="1500" b="1">
                <a:solidFill>
                  <a:srgbClr val="151515"/>
                </a:solidFill>
              </a:rPr>
              <a:t>Ahorro semanal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96DFA-06C5-4007-90AD-E60CB741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3865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tiempo estimado liberado del equipo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159DE-05E7-41CE-83C4-605058FE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F72E6E-D5C5-4179-ADCA-51E862B3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83226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6C5B78-A86D-4A25-B430-E6EF09A0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La hoja de ruta evita prometer integraciones a ciegas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A15FA-A9F6-440A-813B-67D9ECD4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Se avanza por capas, validando cada paso.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A338E-9D48-49F1-91A2-BA705559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7DD3B-5F65-4B18-A34E-8888E06A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BB247-8CDF-4A09-8143-AC92B3FD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7B2FD-6C7B-4BAD-901F-D44C5FA7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670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AD4EE-9089-43BF-89B0-3158D9D1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Ordenar WhatsApp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4C22F-C0AE-4FF5-9BF0-2A8157AB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Twilio, bot, FAQs, pedidos y bandeja básica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7460C-2745-4731-B7FF-9B1FC46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387D8-04A9-40E3-8341-DD242FAD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594C5-BCDE-4BD5-9BE8-608BCAC4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670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50337-C0AF-4870-B957-B9804FFD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05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Optimizar operación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3A589-A860-4ABC-A79C-53FF35A7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672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Panel mejorado, estados, catálogo y reporting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262F5-8CA9-4FEE-B9DA-AE0BCA35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9CF74-2F6E-4D31-B67D-7F0EDE0D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DA70F-4C26-4279-AFDD-1D4BA4F5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670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F7ED5-7071-46E0-8C9B-E7C4034B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Integrar Agora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8F112-8D75-46ED-8EE1-3F74E856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Pedidos y producción cuando la API esté lista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2BF49-78A9-4048-ADBA-31DE979E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844C8-917A-48CB-84F0-8F09723B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A144D-F898-4DA0-A1BC-4308793F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670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6A0FB-8A71-4A14-B93B-97BBF03E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</a:defRPr>
            </a:pPr>
            <a:r>
              <a:rPr sz="1725" b="1">
                <a:solidFill>
                  <a:srgbClr val="151515"/>
                </a:solidFill>
              </a:rPr>
              <a:t>IA y voz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BD5EA-21DF-4490-BECC-9EAE5258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672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5"/>
                </a:solidFill>
              </a:defRPr>
            </a:pPr>
            <a:r>
              <a:rPr sz="1200" b="0">
                <a:solidFill>
                  <a:srgbClr val="5F5A55"/>
                </a:solidFill>
              </a:rPr>
              <a:t>Multiidioma, extracción avanzada y llamadas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EE00C8-A4EE-463F-8115-59D4F182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D09202-F648-4627-A6A4-5E92D411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947497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29F14D-E7F1-4CE6-9BF0-FE8064BB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1515"/>
                </a:solidFill>
              </a:defRPr>
            </a:pPr>
            <a:r>
              <a:rPr sz="3000" b="1">
                <a:solidFill>
                  <a:srgbClr val="151515"/>
                </a:solidFill>
              </a:rPr>
              <a:t>Presupuesto para arrancar con R1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E47FA-0CC8-4E3B-96DD-666580BF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Precio cerrado para el MVP, con mantenimiento y costes externos separados.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83DFA-E7A8-4ECD-9BCE-C3CFF1D5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DDD9E-CD74-443D-AB34-4C1988D8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9527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96D36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48DAE-38D9-4ABF-9EA3-F99B796C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3.500 EUR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30673-625C-46E2-BF30-B91D20EA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671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Desarrollo R1 /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48FD9-5058-4750-87E4-86AFED51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29527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F7ED3-C242-4AB1-A99C-C9981199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250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5AEEF-5334-4F5C-B2F3-9C1BEDC4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0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1515"/>
                </a:solidFill>
              </a:defRPr>
            </a:pPr>
            <a:r>
              <a:rPr sz="2250" b="1">
                <a:solidFill>
                  <a:srgbClr val="151515"/>
                </a:solidFill>
              </a:rPr>
              <a:t>EUR/mes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C7FFD-57FF-4D54-8687-77A6EEDC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576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Mantenimiento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3FE83-2098-4316-90D6-4ABD2022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9527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1EC"/>
          </a:solidFill>
          <a:ln xmlns:a="http://schemas.openxmlformats.org/drawingml/2006/main" w="9525">
            <a:solidFill>
              <a:srgbClr val="D8CC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58AF6-9632-4623-A21E-A5C68702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51515"/>
                </a:solidFill>
              </a:defRPr>
            </a:pPr>
            <a:r>
              <a:rPr sz="3150" b="1">
                <a:solidFill>
                  <a:srgbClr val="151515"/>
                </a:solidFill>
              </a:rPr>
              <a:t>75-200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94A08-5BDE-43FD-A1ED-2534C209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00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1515"/>
                </a:solidFill>
              </a:defRPr>
            </a:pPr>
            <a:r>
              <a:rPr sz="2250" b="1">
                <a:solidFill>
                  <a:srgbClr val="151515"/>
                </a:solidFill>
              </a:rPr>
              <a:t>EUR/mes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3687C-4575-406E-AD91-F5D0E3A0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5A55"/>
                </a:solidFill>
              </a:defRPr>
            </a:pPr>
            <a:r>
              <a:rPr sz="1350" b="0">
                <a:solidFill>
                  <a:srgbClr val="5F5A55"/>
                </a:solidFill>
              </a:rPr>
              <a:t>Costes externos estimados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0FE92-10C2-4977-9A0E-FC34987C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963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5A55"/>
                </a:solidFill>
              </a:defRPr>
            </a:pPr>
            <a:r>
              <a:rPr sz="1575" b="0">
                <a:solidFill>
                  <a:srgbClr val="5F5A55"/>
                </a:solidFill>
              </a:rPr>
              <a:t>Incluye configuración, bot, flujos principales, base de datos, panel/bandeja básica, despliegue, pruebas, documentación y 2 semanas de ajustes.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AF832-72D0-4B17-9DBF-FA0E2C4A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5A55"/>
                </a:solidFill>
              </a:defRPr>
            </a:pPr>
            <a:r>
              <a:rPr sz="1050" b="0">
                <a:solidFill>
                  <a:srgbClr val="5F5A55"/>
                </a:solidFill>
              </a:rPr>
              <a:t>Nota fiscal: si aplica Kleinunternehmerregelung en Alemania, se emitiría sin IVA, pendiente de confirmación fiscal.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E7D09-D59C-45F9-AF66-2E2F097E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Postres Beinetti · Product brief WhatsApp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0D527-8E40-48A4-A3C3-274BB298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5"/>
                </a:solidFill>
              </a:defRPr>
            </a:pPr>
            <a:r>
              <a:rPr sz="825" b="0">
                <a:solidFill>
                  <a:srgbClr val="5F5A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92150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2026-07-07T12:49:56.4470000Z</dcterms:created>
  <dcterms:modified xsi:type="dcterms:W3CDTF">2026-07-07T12:49:56.4470000Z</dcterms:modified>
</coreProperties>
</file>